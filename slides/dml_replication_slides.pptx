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paper. Keep this slide simple: title, authors, journal/year, and your name. Mention that your presentation focuses on the applied 401(k) replication rather than the full theoretical DML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your paper from the next presentation. Then state the causal question: does 401(k) eligibility increase net financial assets? The issue is confounding because eligibility is observational rather than randomized.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data: SIPP 1991, 9,915 observations, outcome net financial assets, treatment 401(k) eligibility, controls. Then explain why DML is needed in this empirical setting: eligible and non-eligible workers are not randomly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directly from the paper. Do not read the equations line by line. Explain what Y, D, and Z are, and say that DML uses machine learning to estimate the relationships involving controls before estimating the effect of eligibility.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exactly what you replicated: Table 1, Panel B, ATE 2-fold, Ensemble column. Explain Ensemble in simple terms: it combines RLasso, Boosting, Random Forest, and Neural Net, with weights based on out-of-sample prediction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actual result screenshot. Say: my estimate is 8,970 versus 9,043 in the paper, a difference of 73 dollars, less than one percent. Interpret in plain English: 401(k) eligibility increases net financial assets by about 9,000 dollars after flexible controls. Explain the small difference: 10 splits vs. 100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6B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Replication: Double/Debiased Machine Learning of Treatment Effects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364B"/>
          </a:solidFill>
          <a:ln w="12700">
            <a:solidFill>
              <a:srgbClr val="233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98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Double/Debiased/Neyman Machine Learning</a:t>
            </a:r>
            <a:endParaRPr lang="en-US" sz="3500" dirty="0"/>
          </a:p>
          <a:p>
            <a:pPr marL="0" indent="0" algn="ctr">
              <a:buNone/>
            </a:pPr>
            <a:r>
              <a:rPr lang="en-US" sz="35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Treatment Effects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3840480" y="2880360"/>
            <a:ext cx="4480560" cy="0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324612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D252D"/>
                </a:solidFill>
              </a:rPr>
              <a:t>Victor Chernozhukov, Denis Chetverikov, Mert Demirer,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D252D"/>
                </a:solidFill>
              </a:rPr>
              <a:t>Esther Duflo, Christian Hansen, and Whitney Newey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3977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570"/>
                </a:solidFill>
              </a:rPr>
              <a:t>American Economic Review: Papers &amp; Proceedings · 2017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48920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64B"/>
                </a:solidFill>
              </a:rPr>
              <a:t>Aaron Chotzen-Jenner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this paper different?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applied DML example, not the full theoretical framework.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9292" y="1623060"/>
            <a:ext cx="4892040" cy="1600200"/>
          </a:xfrm>
          <a:prstGeom prst="roundRect">
            <a:avLst/>
          </a:prstGeom>
          <a:solidFill>
            <a:srgbClr val="F4E7CF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07892" y="183337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364B"/>
                </a:solidFill>
              </a:rPr>
              <a:t>This paper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364B"/>
                </a:solidFill>
              </a:rPr>
              <a:t>(my replication)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7892" y="2497407"/>
            <a:ext cx="4389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7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DML in a concrete empirical application: 401(k) eligibility and household assets.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CAUSAL QUESTION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413308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364B"/>
                </a:solidFill>
              </a:rPr>
              <a:t>Does 401(k) eligibility increase net financial assets?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search_question_slide_update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empirical setting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uses observational data where flexible controls matter.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325880" cy="438912"/>
          </a:xfrm>
          <a:prstGeom prst="rect">
            <a:avLst/>
          </a:prstGeom>
          <a:solidFill>
            <a:srgbClr val="23364B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65506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057400" y="1600200"/>
            <a:ext cx="3886200" cy="438912"/>
          </a:xfrm>
          <a:prstGeom prst="rect">
            <a:avLst/>
          </a:prstGeom>
          <a:solidFill>
            <a:srgbClr val="23364B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12264" y="165506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1325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209397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057400" y="2039112"/>
            <a:ext cx="3886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2264" y="2093976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1991 SIPP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31520" y="2478024"/>
            <a:ext cx="1325880" cy="438912"/>
          </a:xfrm>
          <a:prstGeom prst="rect">
            <a:avLst/>
          </a:prstGeom>
          <a:solidFill>
            <a:srgbClr val="FAF8F2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253288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057400" y="2478024"/>
            <a:ext cx="3886200" cy="438912"/>
          </a:xfrm>
          <a:prstGeom prst="rect">
            <a:avLst/>
          </a:prstGeom>
          <a:solidFill>
            <a:srgbClr val="FAF8F2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12264" y="2532888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9,915 observations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1520" y="2916936"/>
            <a:ext cx="1325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29718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057400" y="2916936"/>
            <a:ext cx="3886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12264" y="297180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total financial assets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31520" y="3355848"/>
            <a:ext cx="1325880" cy="438912"/>
          </a:xfrm>
          <a:prstGeom prst="rect">
            <a:avLst/>
          </a:prstGeom>
          <a:solidFill>
            <a:srgbClr val="FAF8F2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" y="341071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057400" y="3355848"/>
            <a:ext cx="3886200" cy="438912"/>
          </a:xfrm>
          <a:prstGeom prst="rect">
            <a:avLst/>
          </a:prstGeom>
          <a:solidFill>
            <a:srgbClr val="FAF8F2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12264" y="3410712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401(k) eligibility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31520" y="3794760"/>
            <a:ext cx="1325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6384" y="384962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057400" y="3794760"/>
            <a:ext cx="3886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12264" y="3849624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income, education, family size, marital status, pension/IRA/home ownership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400800" y="13258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METHOD IS NEEDED HERE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91072" y="1691640"/>
            <a:ext cx="50292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65392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can model complicated confounding relationships, but DML is needed so prediction errors do not drive the final causal estimate.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1005840" y="4800600"/>
            <a:ext cx="10149840" cy="80467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2F6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34440" y="50200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B55"/>
                </a:solidFill>
              </a:rPr>
              <a:t>Simplified: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834640" y="49651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D252D"/>
                </a:solidFill>
              </a:rPr>
              <a:t>DML tries to compare people who differ in 401(k) eligibility after removing the parts of wealth and eligibility explained by observed characteristics.</a:t>
            </a:r>
            <a:endParaRPr lang="en-US" sz="127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used in the paper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equation frames the treatment-effect problem.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CHERNOZHUKOV ET AL. (2017)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55778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dml_formula_1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146" y="1627632"/>
            <a:ext cx="373686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IT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629400" y="1444752"/>
            <a:ext cx="4892040" cy="3886200"/>
          </a:xfrm>
          <a:prstGeom prst="roundRect">
            <a:avLst/>
          </a:prstGeom>
          <a:solidFill>
            <a:srgbClr val="E8EEF3"/>
          </a:solidFill>
          <a:ln w="12700">
            <a:solidFill>
              <a:srgbClr val="4B6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67728" y="1773936"/>
            <a:ext cx="429768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outcome: net financial assets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treatment: 401(k) eligibility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controls: income, age, education, etc.</a:t>
            </a:r>
            <a:endParaRPr lang="en-US" sz="1420" dirty="0"/>
          </a:p>
          <a:p>
            <a:pPr marL="0" indent="0" algn="l">
              <a:buNone/>
            </a:pP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models both: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controls affect assets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controls affect eligibility</a:t>
            </a:r>
            <a:endParaRPr lang="en-US" sz="1420" dirty="0"/>
          </a:p>
          <a:p>
            <a:pPr marL="0" indent="0" algn="l">
              <a:buNone/>
            </a:pP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DML uses these two predictions to isolate the treatment effect.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96012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364B"/>
                </a:solidFill>
              </a:rPr>
              <a:t>Takeaway: DML lets the authors use flexible ML controls while still estimating a causal treatment effect.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8"/>
                </a:solidFill>
                <a:latin typeface="Aptos Display"/>
              </a:rPr>
              <a:t>What I replicated: the Ensemble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78408"/>
            <a:ext cx="106984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596068"/>
                </a:solidFill>
                <a:latin typeface="Aptos"/>
              </a:rPr>
              <a:t>Table 1, Panel B · Partially Linear Model · 2-fold cross-fitting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1155680" cy="9144"/>
          </a:xfrm>
          <a:prstGeom prst="rect">
            <a:avLst/>
          </a:prstGeom>
          <a:solidFill>
            <a:srgbClr val="CDA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2926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C68B26"/>
                </a:solidFill>
                <a:latin typeface="Aptos Display"/>
              </a:rPr>
              <a:t>REPLICATION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7163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A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12680" cy="3017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100" b="1">
                <a:solidFill>
                  <a:srgbClr val="1F2A38"/>
                </a:solidFill>
                <a:latin typeface="Aptos Display"/>
              </a:rPr>
              <a:t>Mean ATE of 401(k) eligibility on net financial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31136"/>
            <a:ext cx="100126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596068"/>
                </a:solidFill>
                <a:latin typeface="Aptos"/>
              </a:rPr>
              <a:t>Original paper target: $9,043 in the Ensemble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98648"/>
            <a:ext cx="3474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C68B26"/>
                </a:solidFill>
                <a:latin typeface="Aptos Display"/>
              </a:rPr>
              <a:t>WHAT IS THE ENSEMBLE?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54680"/>
            <a:ext cx="10771632" cy="987552"/>
          </a:xfrm>
          <a:prstGeom prst="roundRect">
            <a:avLst/>
          </a:prstGeom>
          <a:solidFill>
            <a:srgbClr val="F4E6C9"/>
          </a:solidFill>
          <a:ln w="12700">
            <a:solidFill>
              <a:srgbClr val="C68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438144"/>
            <a:ext cx="969264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650" b="0">
                <a:solidFill>
                  <a:srgbClr val="1F2A38"/>
                </a:solidFill>
                <a:latin typeface="Aptos"/>
              </a:rPr>
              <a:t>A weighted combination of several ML methods. More weight goes to methods that predict best out of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C68B26"/>
                </a:solidFill>
                <a:latin typeface="Aptos Display"/>
              </a:rPr>
              <a:t>METHODS INSIDE THE ENSEMBLE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700016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A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4837176"/>
            <a:ext cx="2276856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1F2A38"/>
                </a:solidFill>
                <a:latin typeface="Aptos Display"/>
              </a:rPr>
              <a:t>RLasso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175504"/>
            <a:ext cx="2276856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596068"/>
                </a:solidFill>
                <a:latin typeface="Aptos"/>
              </a:rPr>
              <a:t>penalized linear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700016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A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47872" y="4837176"/>
            <a:ext cx="2276856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1F2A38"/>
                </a:solidFill>
                <a:latin typeface="Aptos Display"/>
              </a:rPr>
              <a:t>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5175504"/>
            <a:ext cx="2276856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596068"/>
                </a:solidFill>
                <a:latin typeface="Aptos"/>
              </a:rPr>
              <a:t>sequential tree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4700016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A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4837176"/>
            <a:ext cx="2276856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1F2A38"/>
                </a:solidFill>
                <a:latin typeface="Aptos Display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5175504"/>
            <a:ext cx="2276856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596068"/>
                </a:solidFill>
                <a:latin typeface="Aptos"/>
              </a:rPr>
              <a:t>many trees averaged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00016"/>
            <a:ext cx="24231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A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59952" y="4837176"/>
            <a:ext cx="2276856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1F2A38"/>
                </a:solidFill>
                <a:latin typeface="Aptos Display"/>
              </a:rPr>
              <a:t>Neural 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75504"/>
            <a:ext cx="2276856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596068"/>
                </a:solidFill>
                <a:latin typeface="Aptos"/>
              </a:rPr>
              <a:t>flexible nonlinear predictor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55080"/>
            <a:ext cx="11201400" cy="10972"/>
          </a:xfrm>
          <a:prstGeom prst="rect">
            <a:avLst/>
          </a:prstGeom>
          <a:solidFill>
            <a:srgbClr val="CDA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6400800"/>
            <a:ext cx="8686800" cy="347472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>
                <a:solidFill>
                  <a:srgbClr val="726C64"/>
                </a:solidFill>
                <a:latin typeface="Aptos"/>
              </a:rPr>
              <a:t>GSE 552 replication presentation • Aaron Chotzen-Jenner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473952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26C6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36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Replication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headline estimate closely matches the original paper.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7452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54359"/>
            <a:ext cx="7150608" cy="23662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COMPARISON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641080" y="1417320"/>
            <a:ext cx="2194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778240" y="15179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64B"/>
                </a:solidFill>
              </a:rPr>
              <a:t>$9,043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0" y="1929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0"/>
                </a:solidFill>
              </a:rPr>
              <a:t>paper estimate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41080" y="2331720"/>
            <a:ext cx="2194560" cy="777240"/>
          </a:xfrm>
          <a:prstGeom prst="roundRect">
            <a:avLst/>
          </a:prstGeom>
          <a:solidFill>
            <a:srgbClr val="F4E7CF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7824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64B"/>
                </a:solidFill>
              </a:rPr>
              <a:t>$8,970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78240" y="28437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0"/>
                </a:solidFill>
              </a:rPr>
              <a:t>replication estimate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3246120"/>
            <a:ext cx="2194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78240" y="33467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64B"/>
                </a:solidFill>
              </a:rPr>
              <a:t>$73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778240" y="3758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0"/>
                </a:solidFill>
              </a:rPr>
              <a:t>difference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4407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77240" y="4700016"/>
            <a:ext cx="5166360" cy="960120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2F6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78992" y="4919472"/>
            <a:ext cx="4617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flexibly controlling for confounders, 401(k) eligibility is estimated to increase net financial assets by about $9,000.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6446520" y="4407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9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SMALL DIFFERENCES ARE EXPECTED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46520" y="4700016"/>
            <a:ext cx="4983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39128" y="4919472"/>
            <a:ext cx="4389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D2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averages over 100 random sample splits. I used 10 splits to keep computation time manageable, so small split-to-split differences are expected.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56B5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770</Words>
  <Application>Microsoft Office PowerPoint</Application>
  <PresentationFormat>Widescreen</PresentationFormat>
  <Paragraphs>95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GSE replication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Replicating Chernozhukov et al. (2017)</dc:title>
  <dc:subject>Replication presentation: Chernozhukov et al. (2017)</dc:subject>
  <dc:creator>Aaron Chotzen-Jenner</dc:creator>
  <cp:lastModifiedBy>Aaron Chotzen-Jenner</cp:lastModifiedBy>
  <cp:revision>4</cp:revision>
  <dcterms:created xsi:type="dcterms:W3CDTF">2026-06-03T18:11:09Z</dcterms:created>
  <dcterms:modified xsi:type="dcterms:W3CDTF">2026-06-03T22:56:51Z</dcterms:modified>
</cp:coreProperties>
</file>